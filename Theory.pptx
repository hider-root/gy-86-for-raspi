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497BF-0581-4BDA-B8A2-FD96A637874A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BFAE7-7384-4625-AC9A-B51438491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BFAE7-7384-4625-AC9A-B51438491B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56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EDA79-1C18-6047-72E0-A4496D2D3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E4B53-8DC5-2F59-FC20-8D3CF50AD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3A2EB-DF55-54EC-A473-679A723B0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EDD0-EB47-409A-86C8-B8651F7090EE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42F00-DF52-A857-0206-5B796573A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4BF8D-02FA-CBC1-ABBA-FFE4F303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84D4-EEF0-44E3-99C5-86029FD4E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670E-9C41-772A-BB79-1FAA1762E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1D484-9125-64CF-9996-88F09FD51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3925B-A990-2EEF-DE4F-13417375F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EDD0-EB47-409A-86C8-B8651F7090EE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72FBC-A8CC-67C8-2F27-696AF164D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13401-37B2-D1B8-88E7-568B84B4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84D4-EEF0-44E3-99C5-86029FD4E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02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20CB-9D5A-D60B-F56E-910223649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7123F-4FF1-A2E5-3295-F1C6FB6EC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D540E-F21D-D839-7651-78A4E34C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EDD0-EB47-409A-86C8-B8651F7090EE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E61F-6355-F291-F035-165DCC71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6BD24-F5BC-FC38-9AF6-A6A03B3C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84D4-EEF0-44E3-99C5-86029FD4E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10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C92C3-9125-0FF0-ECFB-55E7C06C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42376-981D-7846-96EF-A3C5159550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6F866-600D-231C-C01F-87163BCA2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32A2B-DC4B-826F-BF94-BE6111AB6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EDD0-EB47-409A-86C8-B8651F7090EE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49FB7-BEA5-C995-32D0-C55E2D078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7214D-5370-3372-CA5B-C95EA8560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84D4-EEF0-44E3-99C5-86029FD4E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36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189F-807D-CDA7-F0D6-94A1BB60E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28FF4-E718-8DCB-2FCC-E49C24C10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597D8-01D9-A8E5-C1FC-81B57933C8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4EB7FE-D5C5-2BF5-2E62-6EB92B048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6E26C-FD04-2053-0ACA-A8F0A5499B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F769D6-EAB6-87E0-AFD9-91DFE56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EDD0-EB47-409A-86C8-B8651F7090EE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7B69DB-ADAD-E849-64B9-4A68C15D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A541B4-39DA-6ABD-D620-68392243B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84D4-EEF0-44E3-99C5-86029FD4E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32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EE09F-78AE-D1F6-07BC-8A3F1AE7D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3C019-2440-1076-D21A-C94D96B40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EDD0-EB47-409A-86C8-B8651F7090EE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07632-140F-E90A-F011-1234C25E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C01A73-F510-AE14-B2B2-20A7FAF5D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84D4-EEF0-44E3-99C5-86029FD4E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36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D8D9C-4FCD-74D4-DFF7-A8963263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EDD0-EB47-409A-86C8-B8651F7090EE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1E7349-DEAD-28A6-D3FD-8B4B34811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287E5-634B-EE6A-2FFE-C79C711E5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84D4-EEF0-44E3-99C5-86029FD4E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10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6A853-8EBB-F6FA-59F6-CA8095E05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A3CE7-69DA-9DFF-0BB1-B432AAC5B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96BB0-54FA-7DC5-9450-7EAC1C7A9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E9FFD-30A9-5333-89C6-C3A120D63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EDD0-EB47-409A-86C8-B8651F7090EE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A8D2A-3D30-2736-16CD-5AB7FCA1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AC55C-6E88-1096-5974-D0B7165C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84D4-EEF0-44E3-99C5-86029FD4E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39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B45F6-8E24-D204-20DB-341D74B55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B47EA6-0BBE-2B98-338B-3A736F95D5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EB006-B592-2CE9-AA20-97B2AC4E5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08698-E465-6C75-C21E-DE1E03DDD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EDD0-EB47-409A-86C8-B8651F7090EE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442C6-CECE-CF1E-1908-9A4D2882A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919C4-706A-E939-395B-4A6E8C41C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84D4-EEF0-44E3-99C5-86029FD4E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038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1AB9C-0A0C-5145-873C-0644D4D2B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48653-E2B2-9DA8-D12E-2696BB3CF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05381-9961-F761-1B7C-32009F907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EDD0-EB47-409A-86C8-B8651F7090EE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B9B11-10B5-237C-D72A-F36F5216E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40D99-D5B5-E818-5FB0-10F1DA4A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84D4-EEF0-44E3-99C5-86029FD4E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66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8CF51C-58BE-B208-B1A0-B83DE5E43D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98E5FA-EC41-D78B-E856-E4DB9E718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4466A-323D-2B5E-D6F6-4D19B2AEE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EDD0-EB47-409A-86C8-B8651F7090EE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3A16E-9137-9F19-79D7-0114DF19E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8762E-411B-27D4-9410-B8793664F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84D4-EEF0-44E3-99C5-86029FD4E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96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5A075E-66C6-876A-1C5B-58A4BD29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39BC6-C06A-E0F9-563E-782D01813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C60D7-728E-5B92-B26C-D780EAA9E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9EDD0-EB47-409A-86C8-B8651F7090EE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9B22F-149B-643A-89EE-8EF221ADD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43869-95FB-B05B-8C52-C1777448A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C84D4-EEF0-44E3-99C5-86029FD4E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2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tkjelectronics.dk/2012/09/a-practical-approach-to-kalman-filter-and-how-to-implement-i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757B8-CB86-E903-0030-889E797B2D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MPU 6050 </a:t>
            </a:r>
          </a:p>
        </p:txBody>
      </p:sp>
    </p:spTree>
    <p:extLst>
      <p:ext uri="{BB962C8B-B14F-4D97-AF65-F5344CB8AC3E}">
        <p14:creationId xmlns:p14="http://schemas.microsoft.com/office/powerpoint/2010/main" val="121527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36102-924F-FD52-8349-45D317FD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MPU6050 CONFIGURATION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2DEB03-14BC-BA55-914F-7BCE6E8B82E3}"/>
              </a:ext>
            </a:extLst>
          </p:cNvPr>
          <p:cNvSpPr txBox="1"/>
          <p:nvPr/>
        </p:nvSpPr>
        <p:spPr>
          <a:xfrm>
            <a:off x="838200" y="1506022"/>
            <a:ext cx="112231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First of all, we will set FS (full scale) and </a:t>
            </a:r>
            <a:r>
              <a:rPr lang="en-US" sz="2800" b="0" i="0" dirty="0">
                <a:effectLst/>
                <a:latin typeface="Google Sans Text"/>
              </a:rPr>
              <a:t>the gyroscopes’ sensitivity per </a:t>
            </a:r>
            <a:r>
              <a:rPr lang="en-US" sz="2800" dirty="0"/>
              <a:t>LSB (least significant bit) for both gyro and acc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</a:rPr>
              <a:t>The register for configuring the </a:t>
            </a:r>
            <a:r>
              <a:rPr lang="en-US" sz="2800" b="0" i="0" dirty="0">
                <a:effectLst/>
                <a:highlight>
                  <a:srgbClr val="FFFF00"/>
                </a:highlight>
              </a:rPr>
              <a:t>gyroscope</a:t>
            </a:r>
            <a:r>
              <a:rPr lang="en-US" sz="2800" b="0" i="0" dirty="0">
                <a:effectLst/>
              </a:rPr>
              <a:t> is Register 27, named GYRO_CONFIG</a:t>
            </a:r>
            <a:r>
              <a:rPr lang="en-US" sz="2800" dirty="0"/>
              <a:t>. For each FS value, we will have respectively </a:t>
            </a:r>
            <a:r>
              <a:rPr lang="en-US" sz="2800" b="0" i="0" dirty="0">
                <a:effectLst/>
                <a:latin typeface="Google Sans Text"/>
              </a:rPr>
              <a:t>the gyroscopes’ sensitivity per </a:t>
            </a:r>
            <a:r>
              <a:rPr lang="en-US" sz="2800" dirty="0"/>
              <a:t>LSB. They are shown on below</a:t>
            </a:r>
            <a:endParaRPr lang="en-US" sz="2800" dirty="0">
              <a:effectLst/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effectLst/>
              </a:rPr>
              <a:t>0: +- 250 degrees/sec with 131 LSB/degree/sec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effectLst/>
              </a:rPr>
              <a:t>1: +- 500 degrees/sec with 65.5 LSB/degree/sec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effectLst/>
              </a:rPr>
              <a:t>2: +- 1000 degrees/sec with 32.8 LSB/degree/sec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effectLst/>
              </a:rPr>
              <a:t>3: +- 2000 degrees/sec with 16.4 LSB/degree/sec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30733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14E8-EF3F-52B2-AA16-E3E377189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MPU6050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A432B-921F-8AD9-2959-71413EA3E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Similarly, for </a:t>
            </a:r>
            <a:r>
              <a:rPr lang="en-US" dirty="0">
                <a:highlight>
                  <a:srgbClr val="FFFF00"/>
                </a:highlight>
              </a:rPr>
              <a:t>accelerometer</a:t>
            </a:r>
            <a:r>
              <a:rPr lang="en-US" dirty="0"/>
              <a:t> we also have pair of FS (full scale) and </a:t>
            </a:r>
            <a:r>
              <a:rPr lang="en-US" i="0" dirty="0">
                <a:effectLst/>
              </a:rPr>
              <a:t>sensitivity per </a:t>
            </a:r>
            <a:r>
              <a:rPr lang="en-US" dirty="0"/>
              <a:t>LSB (register 28)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AFS_SEL = 0 (±2g): 16384 LSB/g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AFS_SEL = 1 (±4g): 8192 LSB/g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AFS_SEL = 2 (±8g): 4096 LSB/g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•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AFS_SEL = 3 (±16g): 2048 LSB/g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942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34F89-2C4C-8E4C-DE94-4C684ABD4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MPU6050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B82F4-2121-0E6D-634B-D0DF83C3D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0" dirty="0">
                <a:effectLst/>
                <a:cs typeface="Arial" panose="020B0604020202020204" pitchFamily="34" charset="0"/>
              </a:rPr>
              <a:t>The </a:t>
            </a:r>
            <a:r>
              <a:rPr lang="en-US" i="0" dirty="0">
                <a:effectLst/>
                <a:highlight>
                  <a:srgbClr val="FFFF00"/>
                </a:highlight>
                <a:cs typeface="Arial" panose="020B0604020202020204" pitchFamily="34" charset="0"/>
              </a:rPr>
              <a:t>PWR_MGMT_1 (Power Management 1) </a:t>
            </a:r>
            <a:r>
              <a:rPr lang="en-US" i="0" dirty="0">
                <a:effectLst/>
                <a:cs typeface="Arial" panose="020B0604020202020204" pitchFamily="34" charset="0"/>
              </a:rPr>
              <a:t>register in the MPU-6000/MPU-6050 (address 107) allows configuration of power modes and clock source</a:t>
            </a:r>
          </a:p>
          <a:p>
            <a:pPr marL="0" indent="0">
              <a:buNone/>
            </a:pPr>
            <a:r>
              <a:rPr lang="en-US" b="0" i="0" dirty="0">
                <a:effectLst/>
              </a:rPr>
              <a:t>The </a:t>
            </a:r>
            <a:r>
              <a:rPr lang="en-US" b="1" i="0" dirty="0">
                <a:effectLst/>
                <a:highlight>
                  <a:srgbClr val="FFFF00"/>
                </a:highlight>
              </a:rPr>
              <a:t>SMPLRT_DIV (Sample Rate Divider) </a:t>
            </a:r>
            <a:r>
              <a:rPr lang="en-US" b="1" i="0" dirty="0">
                <a:effectLst/>
              </a:rPr>
              <a:t>register</a:t>
            </a:r>
            <a:r>
              <a:rPr lang="en-US" b="0" i="0" dirty="0">
                <a:effectLst/>
              </a:rPr>
              <a:t>, number 25 in the MPU-6000/MPU-6050 documentation, is used to specify the divider from the gyroscope output rate to generate the Sample Rate for the MPU-60X0.</a:t>
            </a:r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dirty="0">
                <a:highlight>
                  <a:srgbClr val="00FF00"/>
                </a:highlight>
              </a:rPr>
              <a:t>Sample Rate = Gyroscope Output Rate / (1 + SMPLRT_DIV)</a:t>
            </a:r>
            <a:endParaRPr lang="en-US" dirty="0">
              <a:highlight>
                <a:srgbClr val="00FF00"/>
              </a:highlight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45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25600-FACD-256A-42DF-0A495ABF7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MPU6050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D9306-491D-F890-E56E-3F461DB03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effectLst/>
                <a:highlight>
                  <a:srgbClr val="FFFF00"/>
                </a:highlight>
                <a:latin typeface="Google Sans Text"/>
              </a:rPr>
              <a:t>Digital Low Pass Filter (DLPF) </a:t>
            </a:r>
            <a:r>
              <a:rPr lang="en-US" b="0" i="0" dirty="0">
                <a:effectLst/>
                <a:latin typeface="Google Sans Text"/>
              </a:rPr>
              <a:t>setting (register 26), depen</a:t>
            </a:r>
            <a:r>
              <a:rPr lang="en-US" dirty="0">
                <a:latin typeface="Google Sans Text"/>
              </a:rPr>
              <a:t>ding on value of  Sample Rate to choose value for DLPF. You can see in table below:</a:t>
            </a:r>
            <a:endParaRPr lang="en-US" b="0" i="0" dirty="0">
              <a:effectLst/>
              <a:latin typeface="Google Sans Text"/>
            </a:endParaRPr>
          </a:p>
          <a:p>
            <a:pPr marL="0" indent="0">
              <a:buNone/>
            </a:pPr>
            <a:endParaRPr lang="en-US" b="0" i="0" dirty="0">
              <a:effectLst/>
              <a:latin typeface="Google Sans Text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B80278-5318-9A56-8227-BD5C2D4DB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91091"/>
            <a:ext cx="4480948" cy="1813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10CDD5-EAC3-288B-3690-5518A24F37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873" y="2866480"/>
            <a:ext cx="4963660" cy="347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00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7293E-0D5D-1C7F-F6B7-19CE4EE38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MPU6050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4F21B-CFC8-602C-7CCE-975590572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effectLst/>
                <a:highlight>
                  <a:srgbClr val="FFFF00"/>
                </a:highlight>
              </a:rPr>
              <a:t>The register </a:t>
            </a:r>
            <a:r>
              <a:rPr lang="en-US" b="1" i="0" dirty="0">
                <a:effectLst/>
                <a:highlight>
                  <a:srgbClr val="FFFF00"/>
                </a:highlight>
              </a:rPr>
              <a:t>GYRO_CONFIG</a:t>
            </a:r>
            <a:r>
              <a:rPr lang="en-US" b="0" i="0" dirty="0">
                <a:effectLst/>
                <a:highlight>
                  <a:srgbClr val="FFFF00"/>
                </a:highlight>
              </a:rPr>
              <a:t> (address 27 in decimal, 1B in hex) </a:t>
            </a:r>
            <a:r>
              <a:rPr lang="en-US" b="0" i="0" dirty="0">
                <a:effectLst/>
              </a:rPr>
              <a:t>is used to trigger gyroscope self-test and configure the gyroscope's full scale range.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</a:rPr>
              <a:t>FS_SEL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: Selects the full-scale range of the gyroscope outputs: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0: ± 250 °/s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1: ± 500 °/s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2: ± 1000 °/s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3: ± 2000 °/s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11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7670-602E-3226-F18B-B759B023C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MPU6050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7AAF9-7450-6134-8C92-69CAC3074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dirty="0">
                <a:effectLst/>
              </a:rPr>
              <a:t>The </a:t>
            </a:r>
            <a:r>
              <a:rPr lang="en-US" b="1" i="0" dirty="0">
                <a:effectLst/>
                <a:highlight>
                  <a:srgbClr val="FFFF00"/>
                </a:highlight>
              </a:rPr>
              <a:t>ACCEL_CONFIG</a:t>
            </a:r>
            <a:r>
              <a:rPr lang="en-US" b="0" i="0" dirty="0">
                <a:effectLst/>
                <a:highlight>
                  <a:srgbClr val="FFFF00"/>
                </a:highlight>
              </a:rPr>
              <a:t> register (address location </a:t>
            </a:r>
            <a:r>
              <a:rPr lang="en-US" b="1" i="0" dirty="0">
                <a:effectLst/>
                <a:highlight>
                  <a:srgbClr val="FFFF00"/>
                </a:highlight>
              </a:rPr>
              <a:t>28 in decimal or 1C in hex</a:t>
            </a:r>
            <a:r>
              <a:rPr lang="en-US" b="0" i="0" dirty="0">
                <a:effectLst/>
                <a:highlight>
                  <a:srgbClr val="FFFF00"/>
                </a:highlight>
              </a:rPr>
              <a:t>)</a:t>
            </a:r>
            <a:r>
              <a:rPr lang="en-US" b="0" i="0" dirty="0">
                <a:effectLst/>
              </a:rPr>
              <a:t>.</a:t>
            </a:r>
            <a:r>
              <a:rPr lang="en-US" dirty="0">
                <a:effectLst/>
              </a:rPr>
              <a:t> </a:t>
            </a:r>
          </a:p>
          <a:p>
            <a:r>
              <a:rPr lang="en-US" dirty="0">
                <a:effectLst/>
              </a:rPr>
              <a:t>0: ± 2g </a:t>
            </a:r>
          </a:p>
          <a:p>
            <a:r>
              <a:rPr lang="en-US" dirty="0">
                <a:effectLst/>
              </a:rPr>
              <a:t>1: ± 4g </a:t>
            </a:r>
          </a:p>
          <a:p>
            <a:r>
              <a:rPr lang="en-US" dirty="0">
                <a:effectLst/>
              </a:rPr>
              <a:t>2: ± 8g </a:t>
            </a:r>
          </a:p>
          <a:p>
            <a:r>
              <a:rPr lang="en-US" dirty="0">
                <a:effectLst/>
              </a:rPr>
              <a:t>3: ± 16g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583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614A-2FE5-ADBF-2E48-9B664C98F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29C2-1709-1B05-B429-FFE0C0E67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MPU6050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A104F-3BE0-C393-9E5A-9F7DB4688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dirty="0">
                <a:effectLst/>
              </a:rPr>
              <a:t>The </a:t>
            </a:r>
            <a:r>
              <a:rPr lang="en-US" b="0" i="0" dirty="0">
                <a:effectLst/>
                <a:highlight>
                  <a:srgbClr val="FFFF00"/>
                </a:highlight>
              </a:rPr>
              <a:t>USER_CTRL register (Register 106) </a:t>
            </a:r>
            <a:r>
              <a:rPr lang="en-US" b="0" i="0" dirty="0">
                <a:effectLst/>
              </a:rPr>
              <a:t>in the MPU-6000/MPU-6050 allows you to enable/disable the FIFO buffer, the I2C Master Mode, and the primary I2C interface.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b="0" i="0" dirty="0">
              <a:effectLst/>
            </a:endParaRPr>
          </a:p>
          <a:p>
            <a:pPr marL="0" indent="0" algn="l">
              <a:buNone/>
            </a:pPr>
            <a:endParaRPr lang="en-US" dirty="0">
              <a:highlight>
                <a:srgbClr val="00FFFF"/>
              </a:highlight>
            </a:endParaRPr>
          </a:p>
          <a:p>
            <a:pPr marL="0" indent="0" algn="l">
              <a:buNone/>
            </a:pPr>
            <a:r>
              <a:rPr lang="en-US" dirty="0">
                <a:highlight>
                  <a:srgbClr val="00FFFF"/>
                </a:highlight>
              </a:rPr>
              <a:t>I2C_MST_EN: </a:t>
            </a:r>
            <a:r>
              <a:rPr lang="en-US" dirty="0"/>
              <a:t>When set to 1, this bit enables I2C Master Mode. When this bit is cleared to 0, the auxiliary I2C bus lines (AUX_DA and AUX_CL) are logically driven by the primary I2C bus (SDA and SCL).</a:t>
            </a:r>
            <a:endParaRPr lang="en-US" b="0" i="0" dirty="0">
              <a:effectLst/>
            </a:endParaRPr>
          </a:p>
          <a:p>
            <a:pPr marL="0" indent="0" algn="l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4EBD3-A692-D7AB-2550-E602990E8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019176"/>
            <a:ext cx="10515599" cy="152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62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2985C-45DC-A314-308E-878CD562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165B-6E23-D09E-AD57-574D6D254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MPU6050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19016-2184-C95B-703D-8D5729745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>
                <a:highlight>
                  <a:srgbClr val="FFFF00"/>
                </a:highlight>
              </a:rPr>
              <a:t>The INT_PIN_CFG register (Interrupt Pin Configuration)</a:t>
            </a:r>
            <a:r>
              <a:rPr lang="en-US" dirty="0"/>
              <a:t>, located at address 55, is used to configure the operation of interrupt signals on the INT pin of the MPU-6000/MPU-6050.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highlight>
                  <a:srgbClr val="00FFFF"/>
                </a:highlight>
              </a:rPr>
              <a:t>I2C_BYPASS_EN: </a:t>
            </a:r>
            <a:r>
              <a:rPr lang="en-US" dirty="0"/>
              <a:t>When this bit is equal to 1 and I2C_MST_EN (Register 106 bit[5]) is equal to 0, the host application processor will be able to directly access the auxiliary I2C bus of the MPU-60X0. </a:t>
            </a:r>
          </a:p>
          <a:p>
            <a:pPr marL="0" indent="0" algn="l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7C18D9-E453-4634-7017-44D138F03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02010"/>
            <a:ext cx="6537791" cy="125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158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8D63A-6459-BCCF-E683-168B5BAA5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3155D-3AFF-7C35-45D0-EC4F0BE9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MPU6050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61459-4ED5-A77F-D5BF-1E85512BC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>
                <a:highlight>
                  <a:srgbClr val="FFFF00"/>
                </a:highlight>
              </a:rPr>
              <a:t>I2C_MST_CTRL (I2C Master Control) </a:t>
            </a:r>
            <a:r>
              <a:rPr lang="en-US" dirty="0"/>
              <a:t>is a register in the MPU-6000/MPU-6050, located at address 36 (0x24 hex)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highlight>
                  <a:srgbClr val="00FF00"/>
                </a:highlight>
              </a:rPr>
              <a:t>I2C_MST_CLK </a:t>
            </a:r>
            <a:r>
              <a:rPr lang="en-US" dirty="0"/>
              <a:t>is a 4 bit unsigned value which configures a divider on the MPU-60X0 internal 8MHz clock. It sets the I2C master clock speed according to the following table:</a:t>
            </a:r>
          </a:p>
          <a:p>
            <a:pPr marL="0" indent="0" algn="l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45689-BEE8-FA8E-89BB-DDF3BC5C7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13" y="2660625"/>
            <a:ext cx="6084387" cy="6268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E6B398-41D3-6744-3DD6-E4488BBF32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685" y="4001294"/>
            <a:ext cx="2888230" cy="28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78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C919A-9CF9-05D6-0D76-17C8C86A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2DBDD-EC9E-31F6-2856-394F7797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MPU6050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BFE68-C7AB-E5FD-2E77-4668C9069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467" y="1427690"/>
            <a:ext cx="10515600" cy="5159375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dirty="0"/>
              <a:t>Registers 37 to 39 – I2C Slave 0 Control: </a:t>
            </a:r>
          </a:p>
          <a:p>
            <a:pPr lvl="1"/>
            <a:r>
              <a:rPr lang="en-US" dirty="0"/>
              <a:t>I2C_SLV0_ADDR </a:t>
            </a:r>
          </a:p>
          <a:p>
            <a:pPr lvl="1"/>
            <a:r>
              <a:rPr lang="en-US" dirty="0"/>
              <a:t>I2C_SLV0_REG</a:t>
            </a:r>
          </a:p>
          <a:p>
            <a:pPr lvl="1"/>
            <a:r>
              <a:rPr lang="en-US" dirty="0"/>
              <a:t>I2C_SLV0_CTRL </a:t>
            </a:r>
            <a:endParaRPr lang="en-US" dirty="0">
              <a:highlight>
                <a:srgbClr val="FFFF00"/>
              </a:highlight>
            </a:endParaRPr>
          </a:p>
          <a:p>
            <a:pPr marL="0" indent="0" algn="l">
              <a:buNone/>
            </a:pPr>
            <a:r>
              <a:rPr lang="en-US" dirty="0">
                <a:highlight>
                  <a:srgbClr val="FFFF00"/>
                </a:highlight>
              </a:rPr>
              <a:t>I2C_SLV0_ADDR </a:t>
            </a:r>
            <a:r>
              <a:rPr lang="en-US" dirty="0"/>
              <a:t>is a register in the MPU-6000/MPU-6050 used to specify the I2C address of the Slave 0 device. This register is located at address 37 (0x25 hex).</a:t>
            </a:r>
          </a:p>
          <a:p>
            <a:pPr marL="0" indent="0" algn="l">
              <a:buNone/>
            </a:pPr>
            <a:r>
              <a:rPr lang="en-US" dirty="0">
                <a:highlight>
                  <a:srgbClr val="FFFF00"/>
                </a:highlight>
              </a:rPr>
              <a:t>I2C_SLV0_REG </a:t>
            </a:r>
            <a:r>
              <a:rPr lang="en-US" dirty="0"/>
              <a:t>is a register in the MPU-6000/MPU-6050 used to specify the internal register address of Slave 0 where data transfer will start. It is located at address 38 (0x26 hex).</a:t>
            </a:r>
          </a:p>
          <a:p>
            <a:pPr marL="0" indent="0" algn="l">
              <a:buNone/>
            </a:pPr>
            <a:r>
              <a:rPr lang="en-US" dirty="0">
                <a:highlight>
                  <a:srgbClr val="FFFF00"/>
                </a:highlight>
              </a:rPr>
              <a:t>I2C_SLV0_CTRL</a:t>
            </a:r>
            <a:r>
              <a:rPr lang="en-US" dirty="0"/>
              <a:t> is a register in the MPU-6000/MPU-6050 used to control data transfer for Slave 0 via the I2C interface. This register is located at address 39 (0x27 hex)</a:t>
            </a:r>
          </a:p>
        </p:txBody>
      </p:sp>
    </p:spTree>
    <p:extLst>
      <p:ext uri="{BB962C8B-B14F-4D97-AF65-F5344CB8AC3E}">
        <p14:creationId xmlns:p14="http://schemas.microsoft.com/office/powerpoint/2010/main" val="704995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7BB2F-C5BC-ACB6-F86B-2FAFC7144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F243-CB48-089E-47D5-412B277A0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MPU6050 CONFIGURATION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721E09-875C-5687-84F7-2252C9481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18084"/>
            <a:ext cx="8786621" cy="190516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BD3DEE-33DA-E135-BF6C-B39A5E3E8726}"/>
              </a:ext>
            </a:extLst>
          </p:cNvPr>
          <p:cNvSpPr txBox="1"/>
          <p:nvPr/>
        </p:nvSpPr>
        <p:spPr>
          <a:xfrm>
            <a:off x="973667" y="3323249"/>
            <a:ext cx="108034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00FF00"/>
                </a:highlight>
              </a:rPr>
              <a:t>I2C_SLV0_RW</a:t>
            </a:r>
            <a:r>
              <a:rPr lang="en-US" sz="2400" dirty="0"/>
              <a:t>: When set to 1, this bit configures the data transfer as a read operation. When cleared to 0, this bit configures the data transfer as a write operation.</a:t>
            </a:r>
          </a:p>
          <a:p>
            <a:r>
              <a:rPr lang="en-US" sz="2400" dirty="0">
                <a:highlight>
                  <a:srgbClr val="00FF00"/>
                </a:highlight>
              </a:rPr>
              <a:t>I2C_SLV0_ADDR</a:t>
            </a:r>
            <a:r>
              <a:rPr lang="en-US" sz="2400" dirty="0"/>
              <a:t>: Bits 6 through 0 (I2C_SLV0_ADDR[6:0]) contain the 7-bit I2C address of Slave 0</a:t>
            </a:r>
          </a:p>
          <a:p>
            <a:r>
              <a:rPr lang="en-US" sz="2400" dirty="0">
                <a:highlight>
                  <a:srgbClr val="00FF00"/>
                </a:highlight>
              </a:rPr>
              <a:t>I2C_SLV0_REG</a:t>
            </a:r>
            <a:r>
              <a:rPr lang="en-US" sz="2400" dirty="0"/>
              <a:t>: 8-bit address of the Slave 0 register to/from which data transfer starts.</a:t>
            </a:r>
          </a:p>
          <a:p>
            <a:r>
              <a:rPr lang="en-US" sz="2400" dirty="0">
                <a:highlight>
                  <a:srgbClr val="00FF00"/>
                </a:highlight>
              </a:rPr>
              <a:t>I2C_SLV0_EN</a:t>
            </a:r>
            <a:r>
              <a:rPr lang="en-US" sz="2400" dirty="0"/>
              <a:t>: When set to 1, this bit enables Slave 0 for data transfer operations. When cleared to 0, this bit disables Slave 0 from data transfer operations. </a:t>
            </a:r>
          </a:p>
          <a:p>
            <a:r>
              <a:rPr lang="en-US" sz="2400" dirty="0">
                <a:highlight>
                  <a:srgbClr val="00FF00"/>
                </a:highlight>
              </a:rPr>
              <a:t>I2C_SLV0_LEN</a:t>
            </a:r>
            <a:r>
              <a:rPr lang="en-US" sz="2400" dirty="0"/>
              <a:t>: 4-bit unsigned value. Specifies the number of bytes transferred to and from Slave 0. </a:t>
            </a:r>
          </a:p>
        </p:txBody>
      </p:sp>
    </p:spTree>
    <p:extLst>
      <p:ext uri="{BB962C8B-B14F-4D97-AF65-F5344CB8AC3E}">
        <p14:creationId xmlns:p14="http://schemas.microsoft.com/office/powerpoint/2010/main" val="505041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1E686-27DF-D6C6-DAB7-088F85E71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HMC5883L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67C47-72AC-C4CC-8BD0-6C62E9F28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effectLst/>
                <a:highlight>
                  <a:srgbClr val="FFFF00"/>
                </a:highlight>
              </a:rPr>
              <a:t>Configuration Register A</a:t>
            </a:r>
            <a:r>
              <a:rPr lang="en-US" dirty="0">
                <a:effectLst/>
              </a:rPr>
              <a:t> (address 0x00)</a:t>
            </a:r>
          </a:p>
          <a:p>
            <a:pPr lvl="1"/>
            <a:r>
              <a:rPr lang="en-US" dirty="0">
                <a:effectLst/>
              </a:rPr>
              <a:t>It is an </a:t>
            </a:r>
            <a:r>
              <a:rPr lang="en-US" b="0" dirty="0">
                <a:effectLst/>
              </a:rPr>
              <a:t>8-bit read/write register</a:t>
            </a:r>
            <a:r>
              <a:rPr lang="en-US" dirty="0">
                <a:effectLst/>
              </a:rPr>
              <a:t> used to configure the device.</a:t>
            </a:r>
          </a:p>
          <a:p>
            <a:pPr lvl="1"/>
            <a:r>
              <a:rPr lang="en-US" b="0" dirty="0">
                <a:effectLst/>
              </a:rPr>
              <a:t>Bit CRA7 must be cleared to 0 for correct operation</a:t>
            </a:r>
            <a:r>
              <a:rPr lang="en-US" dirty="0">
                <a:effectLst/>
              </a:rPr>
              <a:t>.</a:t>
            </a:r>
          </a:p>
          <a:p>
            <a:pPr lvl="1"/>
            <a:r>
              <a:rPr lang="en-US" b="0" dirty="0">
                <a:effectLst/>
              </a:rPr>
              <a:t>Bits CRA6-CRA5 (MA1-MA0)</a:t>
            </a:r>
            <a:r>
              <a:rPr lang="en-US" dirty="0">
                <a:effectLst/>
              </a:rPr>
              <a:t> select the </a:t>
            </a:r>
            <a:r>
              <a:rPr lang="en-US" b="0" dirty="0">
                <a:effectLst/>
              </a:rPr>
              <a:t>number of samples averaged per measurement</a:t>
            </a:r>
            <a:r>
              <a:rPr lang="en-US" dirty="0">
                <a:effectLst/>
              </a:rPr>
              <a:t> (1, 2, 4, or 8).</a:t>
            </a:r>
          </a:p>
          <a:p>
            <a:pPr lvl="1"/>
            <a:r>
              <a:rPr lang="en-US" b="0" dirty="0">
                <a:effectLst/>
              </a:rPr>
              <a:t>Bits CRA4-CRA2 (DO2-DO0)</a:t>
            </a:r>
            <a:r>
              <a:rPr lang="en-US" dirty="0">
                <a:effectLst/>
              </a:rPr>
              <a:t> set the </a:t>
            </a:r>
            <a:r>
              <a:rPr lang="en-US" b="0" dirty="0">
                <a:effectLst/>
              </a:rPr>
              <a:t>data output rate</a:t>
            </a:r>
            <a:r>
              <a:rPr lang="en-US" dirty="0">
                <a:effectLst/>
              </a:rPr>
              <a:t> in continuous measurement mode</a:t>
            </a:r>
            <a:r>
              <a:rPr lang="en-US" b="0" dirty="0">
                <a:effectLst/>
              </a:rPr>
              <a:t>...</a:t>
            </a:r>
            <a:r>
              <a:rPr lang="en-US" dirty="0">
                <a:effectLst/>
              </a:rPr>
              <a:t>.</a:t>
            </a:r>
          </a:p>
          <a:p>
            <a:pPr lvl="1"/>
            <a:r>
              <a:rPr lang="en-US" b="0" dirty="0">
                <a:effectLst/>
              </a:rPr>
              <a:t>Bits CRA1-CRA0 (MS1-MS0)</a:t>
            </a:r>
            <a:r>
              <a:rPr lang="en-US" dirty="0">
                <a:effectLst/>
              </a:rPr>
              <a:t> define the </a:t>
            </a:r>
            <a:r>
              <a:rPr lang="en-US" b="0" dirty="0">
                <a:effectLst/>
              </a:rPr>
              <a:t>measurement configuration</a:t>
            </a:r>
            <a:r>
              <a:rPr lang="en-US" dirty="0">
                <a:effectLst/>
              </a:rPr>
              <a:t>, including normal measurement and positive/negative bias configurations used for self-test.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189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E0642-7A91-0A38-BAFC-5FF1E1F26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C6C0-518E-D9ED-8E77-70263A80D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HMC5883L CONFIGURATION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717F10-3431-CD9D-3E85-A593347E7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722" y="1690688"/>
            <a:ext cx="6602175" cy="463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4D39B-BB37-6392-6688-2BFA6FB83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33DD8-C8A3-AD02-770F-BC14BECBD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HMC5883L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E740A-FDC5-B324-B4E6-9E3FFB4CA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effectLst/>
                <a:highlight>
                  <a:srgbClr val="FFFF00"/>
                </a:highlight>
              </a:rPr>
              <a:t>Configuration Register B</a:t>
            </a:r>
            <a:r>
              <a:rPr lang="en-US" dirty="0">
                <a:effectLst/>
                <a:highlight>
                  <a:srgbClr val="FFFF00"/>
                </a:highlight>
              </a:rPr>
              <a:t> (address </a:t>
            </a:r>
            <a:r>
              <a:rPr lang="en-US" b="0" dirty="0">
                <a:effectLst/>
                <a:highlight>
                  <a:srgbClr val="FFFF00"/>
                </a:highlight>
              </a:rPr>
              <a:t>0x01</a:t>
            </a:r>
            <a:r>
              <a:rPr lang="en-US" dirty="0">
                <a:effectLst/>
                <a:highlight>
                  <a:srgbClr val="FFFF00"/>
                </a:highlight>
              </a:rPr>
              <a:t>) </a:t>
            </a:r>
            <a:r>
              <a:rPr lang="en-US" dirty="0">
                <a:effectLst/>
              </a:rPr>
              <a:t>is an </a:t>
            </a:r>
            <a:r>
              <a:rPr lang="en-US" b="0" dirty="0">
                <a:effectLst/>
              </a:rPr>
              <a:t>8-bit read/write register</a:t>
            </a:r>
            <a:r>
              <a:rPr lang="en-US" dirty="0">
                <a:effectLst/>
              </a:rPr>
              <a:t> used to </a:t>
            </a:r>
            <a:r>
              <a:rPr lang="en-US" b="0" dirty="0">
                <a:effectLst/>
              </a:rPr>
              <a:t>configure the gain of the device</a:t>
            </a:r>
            <a:endParaRPr lang="en-US" dirty="0">
              <a:effectLst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4E74C3-9771-8420-0A11-AEBAFF416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4549534" cy="20651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B9A61C-A759-3F3D-A26A-79E67A0A6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295" y="2798761"/>
            <a:ext cx="6112384" cy="358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55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C58D4-C846-6CC5-716C-DF958D991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HMC5883L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BC08-E946-7177-D0E3-700AEEBDE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69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</a:t>
            </a:r>
            <a:r>
              <a:rPr lang="en-US" dirty="0">
                <a:effectLst/>
              </a:rPr>
              <a:t>he </a:t>
            </a:r>
            <a:r>
              <a:rPr lang="en-US" b="0" dirty="0">
                <a:effectLst/>
                <a:highlight>
                  <a:srgbClr val="FFFF00"/>
                </a:highlight>
              </a:rPr>
              <a:t>Mode Register</a:t>
            </a:r>
            <a:r>
              <a:rPr lang="en-US" dirty="0">
                <a:effectLst/>
                <a:highlight>
                  <a:srgbClr val="FFFF00"/>
                </a:highlight>
              </a:rPr>
              <a:t> (address </a:t>
            </a:r>
            <a:r>
              <a:rPr lang="en-US" b="0" dirty="0">
                <a:effectLst/>
                <a:highlight>
                  <a:srgbClr val="FFFF00"/>
                </a:highlight>
              </a:rPr>
              <a:t>0x02</a:t>
            </a:r>
            <a:r>
              <a:rPr lang="en-US" dirty="0">
                <a:effectLst/>
                <a:highlight>
                  <a:srgbClr val="FFFF00"/>
                </a:highlight>
              </a:rPr>
              <a:t>) </a:t>
            </a:r>
            <a:r>
              <a:rPr lang="en-US" dirty="0">
                <a:effectLst/>
              </a:rPr>
              <a:t>used to </a:t>
            </a:r>
            <a:r>
              <a:rPr lang="en-US" b="0" dirty="0">
                <a:effectLst/>
              </a:rPr>
              <a:t>select the operating mode of the HMC5883L device.</a:t>
            </a:r>
            <a:endParaRPr lang="en-US" dirty="0">
              <a:effectLst/>
            </a:endParaRPr>
          </a:p>
          <a:p>
            <a:pPr lvl="1"/>
            <a:r>
              <a:rPr lang="en-US" b="0" dirty="0">
                <a:effectLst/>
              </a:rPr>
              <a:t>MR7 to MR2:</a:t>
            </a:r>
            <a:r>
              <a:rPr lang="en-US" dirty="0">
                <a:effectLst/>
              </a:rPr>
              <a:t> These bits </a:t>
            </a:r>
            <a:r>
              <a:rPr lang="en-US" b="0" dirty="0">
                <a:effectLst/>
              </a:rPr>
              <a:t>must be cleared to 0 for correct operation3</a:t>
            </a:r>
            <a:r>
              <a:rPr lang="en-US" dirty="0">
                <a:effectLst/>
              </a:rPr>
              <a:t>. Bit MR7 is set internally after each single-measurement operation.</a:t>
            </a:r>
          </a:p>
          <a:p>
            <a:pPr lvl="1"/>
            <a:r>
              <a:rPr lang="en-US" b="0" dirty="0">
                <a:effectLst/>
              </a:rPr>
              <a:t>MR1 to MR0 (MD1 to MD0):</a:t>
            </a:r>
            <a:r>
              <a:rPr lang="en-US" dirty="0">
                <a:effectLst/>
              </a:rPr>
              <a:t> These are the </a:t>
            </a:r>
            <a:r>
              <a:rPr lang="en-US" b="0" dirty="0">
                <a:effectLst/>
              </a:rPr>
              <a:t>Mode Select Bits</a:t>
            </a:r>
            <a:r>
              <a:rPr lang="en-US" dirty="0">
                <a:effectLst/>
              </a:rPr>
              <a:t>. They determine the operating mode of the device.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75348D-8DCF-BCDE-33EA-1CE6A4988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359" y="4167920"/>
            <a:ext cx="4160881" cy="253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743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6243-3F12-CB04-A436-D0981BE7A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KALMAN FILTER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EAA5A-5488-7E1B-C585-AD186C62D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Read this post to get more information:</a:t>
            </a:r>
          </a:p>
          <a:p>
            <a:pPr marL="0" indent="0">
              <a:buNone/>
            </a:pPr>
            <a:r>
              <a:rPr lang="en-US">
                <a:hlinkClick r:id="rId2"/>
              </a:rPr>
              <a:t>TKJ Electronics » A practical approach to Kalman filter and how to implement 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00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1163</Words>
  <Application>Microsoft Office PowerPoint</Application>
  <PresentationFormat>Widescreen</PresentationFormat>
  <Paragraphs>85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Google Sans Text</vt:lpstr>
      <vt:lpstr>Wingdings</vt:lpstr>
      <vt:lpstr>Office Theme</vt:lpstr>
      <vt:lpstr>MPU 6050 </vt:lpstr>
      <vt:lpstr>MPU6050 CONFIGURATION</vt:lpstr>
      <vt:lpstr>MPU6050 CONFIGURATION</vt:lpstr>
      <vt:lpstr>MPU6050 CONFIGURATION</vt:lpstr>
      <vt:lpstr>MPU6050 CONFIGURATION</vt:lpstr>
      <vt:lpstr>MPU6050 CONFIGURATION</vt:lpstr>
      <vt:lpstr>MPU6050 CONFIGURATION</vt:lpstr>
      <vt:lpstr>MPU6050 CONFIGURATION</vt:lpstr>
      <vt:lpstr>MPU6050 CONFIGURATION</vt:lpstr>
      <vt:lpstr>MPU6050 CONFIGURATION</vt:lpstr>
      <vt:lpstr>MPU6050 CONFIGURATION</vt:lpstr>
      <vt:lpstr>MPU6050 CONFIGURATION</vt:lpstr>
      <vt:lpstr>HMC5883L CONFIGURATION</vt:lpstr>
      <vt:lpstr>HMC5883L CONFIGURATION</vt:lpstr>
      <vt:lpstr>HMC5883L CONFIGURATION</vt:lpstr>
      <vt:lpstr>HMC5883L CONFIGURATION</vt:lpstr>
      <vt:lpstr>KALMAN FILTER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 Tran Phan Quang</dc:creator>
  <cp:lastModifiedBy>Tan Tran Phan Quang</cp:lastModifiedBy>
  <cp:revision>14</cp:revision>
  <dcterms:created xsi:type="dcterms:W3CDTF">2025-02-20T11:30:04Z</dcterms:created>
  <dcterms:modified xsi:type="dcterms:W3CDTF">2025-03-05T08:46:34Z</dcterms:modified>
</cp:coreProperties>
</file>